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4400" y="29718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A274C"/>
                </a:solidFill>
                <a:latin typeface="Aptos"/>
              </a:defRPr>
            </a:pPr>
            <a:r>
              <a:rPr>
                <a:solidFill>
                  <a:srgbClr val="0A274C"/>
                </a:solidFill>
                <a:latin typeface="Aptos"/>
              </a:rPr>
              <a:t>DATA SCIENCE MASTER</a:t>
            </a:r>
            <a:endParaRPr>
              <a:solidFill>
                <a:srgbClr val="0A274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584448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801831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8-WEEK VIRTUAL INTERNSHIP PRESENTATION</a:t>
            </a:r>
            <a:endParaRPr>
              <a:solidFill/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26360" y="4197350"/>
            <a:ext cx="6496685" cy="23380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400"/>
              </a:spcAft>
              <a:defRPr sz="1250" b="1">
                <a:solidFill>
                  <a:srgbClr val="0A274C"/>
                </a:solidFill>
                <a:latin typeface="Aptos"/>
              </a:defRPr>
            </a:pPr>
            <a:r>
              <a:rPr sz="1800">
                <a:solidFill/>
                <a:latin typeface="Aptos"/>
              </a:rPr>
              <a:t>Student: MD Rihan Alam</a:t>
            </a:r>
            <a:endParaRPr sz="1800">
              <a:solidFill/>
              <a:latin typeface="Aptos"/>
            </a:endParaRPr>
          </a:p>
          <a:p>
            <a:pPr algn="ctr">
              <a:spcAft>
                <a:spcPts val="400"/>
              </a:spcAft>
              <a:defRPr sz="1250" b="0">
                <a:solidFill>
                  <a:srgbClr val="0A274C"/>
                </a:solidFill>
                <a:latin typeface="Aptos"/>
              </a:defRPr>
            </a:pPr>
            <a:r>
              <a:rPr sz="1800">
                <a:solidFill/>
                <a:latin typeface="Aptos"/>
              </a:rPr>
              <a:t>Enrollment Number: [</a:t>
            </a:r>
            <a:r>
              <a:rPr lang="en-US" sz="1800">
                <a:solidFill/>
                <a:latin typeface="Aptos"/>
              </a:rPr>
              <a:t>25scs1003001381</a:t>
            </a:r>
            <a:r>
              <a:rPr sz="1800">
                <a:solidFill/>
                <a:latin typeface="Aptos"/>
              </a:rPr>
              <a:t>]</a:t>
            </a:r>
            <a:endParaRPr sz="1800">
              <a:solidFill/>
              <a:latin typeface="Aptos"/>
            </a:endParaRPr>
          </a:p>
          <a:p>
            <a:pPr algn="ctr">
              <a:spcAft>
                <a:spcPts val="400"/>
              </a:spcAft>
              <a:defRPr sz="1250" b="0">
                <a:solidFill>
                  <a:srgbClr val="0A274C"/>
                </a:solidFill>
                <a:latin typeface="Aptos"/>
              </a:defRPr>
            </a:pPr>
            <a:r>
              <a:rPr sz="1800">
                <a:solidFill/>
                <a:latin typeface="Aptos"/>
              </a:rPr>
              <a:t>Program &amp; Semester: B.Tech CSE (AIML) | [</a:t>
            </a:r>
            <a:r>
              <a:rPr lang="en-US" sz="1800">
                <a:solidFill/>
                <a:latin typeface="Aptos"/>
              </a:rPr>
              <a:t>3rd</a:t>
            </a:r>
            <a:r>
              <a:rPr sz="1800">
                <a:solidFill/>
                <a:latin typeface="Aptos"/>
              </a:rPr>
              <a:t>]</a:t>
            </a:r>
            <a:endParaRPr sz="1800">
              <a:solidFill/>
              <a:latin typeface="Aptos"/>
            </a:endParaRPr>
          </a:p>
          <a:p>
            <a:pPr algn="ctr">
              <a:spcAft>
                <a:spcPts val="400"/>
              </a:spcAft>
              <a:defRPr sz="1250" b="0">
                <a:solidFill>
                  <a:srgbClr val="0A274C"/>
                </a:solidFill>
                <a:latin typeface="Aptos"/>
              </a:defRPr>
            </a:pPr>
            <a:r>
              <a:rPr sz="1800">
                <a:solidFill/>
                <a:latin typeface="Aptos"/>
              </a:rPr>
              <a:t>Organization: EduSkills</a:t>
            </a:r>
            <a:endParaRPr sz="1800">
              <a:solidFill/>
              <a:latin typeface="Aptos"/>
            </a:endParaRPr>
          </a:p>
          <a:p>
            <a:pPr algn="ctr">
              <a:spcAft>
                <a:spcPts val="400"/>
              </a:spcAft>
              <a:defRPr sz="1250" b="0">
                <a:solidFill>
                  <a:srgbClr val="0A274C"/>
                </a:solidFill>
                <a:latin typeface="Aptos"/>
              </a:defRPr>
            </a:pPr>
            <a:r>
              <a:rPr sz="1800">
                <a:solidFill/>
                <a:latin typeface="Aptos"/>
              </a:rPr>
              <a:t>Supported by: Siemens</a:t>
            </a:r>
            <a:endParaRPr sz="1800">
              <a:solidFill/>
              <a:latin typeface="Aptos"/>
            </a:endParaRPr>
          </a:p>
          <a:p>
            <a:pPr algn="ctr">
              <a:spcAft>
                <a:spcPts val="400"/>
              </a:spcAft>
              <a:defRPr sz="1250" b="0">
                <a:solidFill>
                  <a:srgbClr val="0A274C"/>
                </a:solidFill>
                <a:latin typeface="Aptos"/>
              </a:defRPr>
            </a:pPr>
            <a:r>
              <a:rPr sz="1800">
                <a:solidFill/>
                <a:latin typeface="Aptos"/>
              </a:rPr>
              <a:t>Duration: June – August 2026</a:t>
            </a:r>
            <a:endParaRPr sz="1800">
              <a:solidFill/>
              <a:latin typeface="Aptos"/>
            </a:endParaRPr>
          </a:p>
        </p:txBody>
      </p:sp>
      <p:pic>
        <p:nvPicPr>
          <p:cNvPr id="9" name="Picture 8" descr="IIL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320040"/>
            <a:ext cx="31546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>
                  <a:srgbClr val="0A274C"/>
                </a:solidFill>
                <a:latin typeface="Aptos"/>
              </a:rPr>
              <a:t>About EduSkills</a:t>
            </a:r>
            <a:endParaRPr>
              <a:solidFill>
                <a:srgbClr val="0A274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EduSkills provides industry-oriented learning opportunities and virtual internships.</a:t>
            </a:r>
            <a:endParaRPr>
              <a:solidFill/>
              <a:latin typeface="Aptos"/>
            </a:endParaRPr>
          </a:p>
          <a:p>
            <a:pPr>
              <a:spcAft>
                <a:spcPts val="11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The internship format helps students gain practical exposure alongside academic learning.</a:t>
            </a:r>
            <a:endParaRPr>
              <a:solidFill/>
              <a:latin typeface="Aptos"/>
            </a:endParaRPr>
          </a:p>
          <a:p>
            <a:pPr>
              <a:spcAft>
                <a:spcPts val="11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The Data Science internship introduced beginner-level concepts, tools, and workflows.</a:t>
            </a:r>
            <a:endParaRPr>
              <a:solidFill/>
              <a:latin typeface="Aptos"/>
            </a:endParaRPr>
          </a:p>
          <a:p>
            <a:pPr>
              <a:spcAft>
                <a:spcPts val="11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The program was supported by Siemens.</a:t>
            </a:r>
            <a:endParaRPr>
              <a:solidFill/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rPr>
                <a:solidFill/>
                <a:latin typeface="Aptos"/>
              </a:rPr>
              <a:t>3</a:t>
            </a:r>
            <a:endParaRPr>
              <a:solidFill/>
              <a:latin typeface="Aptos"/>
            </a:endParaRPr>
          </a:p>
        </p:txBody>
      </p:sp>
      <p:pic>
        <p:nvPicPr>
          <p:cNvPr id="11" name="Picture 10" descr="IIL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64592"/>
            <a:ext cx="1417320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>
                  <a:srgbClr val="0A274C"/>
                </a:solidFill>
                <a:latin typeface="Aptos"/>
              </a:rPr>
              <a:t>Objectives of the Internship</a:t>
            </a:r>
            <a:endParaRPr>
              <a:solidFill>
                <a:srgbClr val="0A274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234440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Understand Data Science</a:t>
            </a:r>
            <a:endParaRPr>
              <a:solidFill/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029967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Learn what Data Science is and where it is used.</a:t>
            </a:r>
            <a:endParaRPr>
              <a:solidFill/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16636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73152" cy="1234440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Work with Data</a:t>
            </a:r>
            <a:endParaRPr>
              <a:solidFill/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7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Understand basic data collection, cleaning, and handling.</a:t>
            </a:r>
            <a:endParaRPr>
              <a:solidFill/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516636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880360"/>
            <a:ext cx="73152" cy="1234440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6324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Analyze Data</a:t>
            </a:r>
            <a:endParaRPr>
              <a:solidFill/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353872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Learn simple ways to explore and understand datasets.</a:t>
            </a:r>
            <a:endParaRPr>
              <a:solidFill/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2880360"/>
            <a:ext cx="516636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880360"/>
            <a:ext cx="73152" cy="1234440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6324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Visualize Data</a:t>
            </a:r>
            <a:endParaRPr>
              <a:solidFill/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353872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Create and interpret basic charts and graphs.</a:t>
            </a:r>
            <a:endParaRPr>
              <a:solidFill/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516636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89120"/>
            <a:ext cx="73152" cy="1234440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57200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Explore Python Tools</a:t>
            </a:r>
            <a:endParaRPr>
              <a:solidFill/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" y="504748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Become familiar with beginner-level Data Science libraries.</a:t>
            </a:r>
            <a:endParaRPr>
              <a:solidFill/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63640" y="4389120"/>
            <a:ext cx="516636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389120"/>
            <a:ext cx="73152" cy="1234440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57200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Build Foundation</a:t>
            </a:r>
            <a:endParaRPr>
              <a:solidFill/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240" y="504748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Develop a base for further learning in AI, ML, and Data Science.</a:t>
            </a:r>
            <a:endParaRPr>
              <a:solidFill/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rPr>
                <a:solidFill/>
                <a:latin typeface="Aptos"/>
              </a:rPr>
              <a:t>4</a:t>
            </a:r>
            <a:endParaRPr>
              <a:solidFill/>
              <a:latin typeface="Aptos"/>
            </a:endParaRPr>
          </a:p>
        </p:txBody>
      </p:sp>
      <p:pic>
        <p:nvPicPr>
          <p:cNvPr id="34" name="Picture 33" descr="IIL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64592"/>
            <a:ext cx="1417320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>
                  <a:srgbClr val="0A274C"/>
                </a:solidFill>
                <a:latin typeface="Aptos"/>
              </a:rPr>
              <a:t>What is Data Science?</a:t>
            </a:r>
            <a:endParaRPr>
              <a:solidFill>
                <a:srgbClr val="0A274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DATA  +  ANALYSIS  +  INSIGHTS  =  DATA SCIENCE</a:t>
            </a:r>
            <a:endParaRPr>
              <a:solidFill/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92024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18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Data Collection</a:t>
            </a:r>
            <a:endParaRPr>
              <a:solidFill/>
              <a:latin typeface="Aptos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651760" y="3035808"/>
            <a:ext cx="320040" cy="411480"/>
          </a:xfrm>
          <a:prstGeom prst="rightArrow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2743200"/>
            <a:ext cx="192024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18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Data Cleaning</a:t>
            </a:r>
            <a:endParaRPr>
              <a:solidFill/>
              <a:latin typeface="Aptos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892040" y="3035808"/>
            <a:ext cx="320040" cy="411480"/>
          </a:xfrm>
          <a:prstGeom prst="rightArrow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0" y="2743200"/>
            <a:ext cx="192024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18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Data Analysis</a:t>
            </a:r>
            <a:endParaRPr>
              <a:solidFill/>
              <a:latin typeface="Aptos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7132320" y="3035808"/>
            <a:ext cx="320040" cy="411480"/>
          </a:xfrm>
          <a:prstGeom prst="rightArrow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52360" y="2743200"/>
            <a:ext cx="192024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18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Visualization</a:t>
            </a:r>
            <a:endParaRPr>
              <a:solidFill/>
              <a:latin typeface="Aptos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9372600" y="3035808"/>
            <a:ext cx="320040" cy="411480"/>
          </a:xfrm>
          <a:prstGeom prst="rightArrow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2743200"/>
            <a:ext cx="192024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18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Insights</a:t>
            </a:r>
            <a:endParaRPr>
              <a:solidFill/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4343400"/>
            <a:ext cx="97840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32B34"/>
                </a:solidFill>
              </a:defRPr>
            </a:pPr>
            <a:r>
              <a:rPr>
                <a:solidFill/>
                <a:latin typeface="Aptos"/>
              </a:rPr>
              <a:t>Data Science is the process of working with data to understand patterns, generate insights, and support better decisions.</a:t>
            </a:r>
            <a:endParaRPr>
              <a:solidFill/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rPr>
                <a:solidFill/>
                <a:latin typeface="Aptos"/>
              </a:rPr>
              <a:t>5</a:t>
            </a:r>
            <a:endParaRPr>
              <a:solidFill/>
              <a:latin typeface="Aptos"/>
            </a:endParaRPr>
          </a:p>
        </p:txBody>
      </p:sp>
      <p:pic>
        <p:nvPicPr>
          <p:cNvPr id="21" name="Picture 20" descr="IIL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64592"/>
            <a:ext cx="1417320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Rectangle 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>
                  <a:srgbClr val="0A274C"/>
                </a:solidFill>
                <a:latin typeface="Aptos"/>
              </a:rPr>
              <a:t>Basic Concepts I Learned</a:t>
            </a:r>
            <a:endParaRPr>
              <a:solidFill>
                <a:srgbClr val="0A274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074920" cy="841248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841248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Introduction to Data Science</a:t>
            </a:r>
            <a:endParaRPr>
              <a:solidFill/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466344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Beginner-level understanding</a:t>
            </a:r>
            <a:endParaRPr>
              <a:solidFill/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074920" cy="841248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84124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Types of Data</a:t>
            </a:r>
            <a:endParaRPr>
              <a:solidFill/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2075688"/>
            <a:ext cx="466344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Beginner-level understanding</a:t>
            </a:r>
            <a:endParaRPr>
              <a:solidFill/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2496312"/>
            <a:ext cx="5074920" cy="841248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496312"/>
            <a:ext cx="73152" cy="841248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679192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Data Collection</a:t>
            </a:r>
            <a:endParaRPr>
              <a:solidFill/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3154680"/>
            <a:ext cx="466344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Beginner-level understanding</a:t>
            </a:r>
            <a:endParaRPr>
              <a:solidFill/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09360" y="2496312"/>
            <a:ext cx="5074920" cy="841248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496312"/>
            <a:ext cx="73152" cy="84124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79192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Data Cleaning &amp; Missing Values</a:t>
            </a:r>
            <a:endParaRPr>
              <a:solidFill/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60" y="3154680"/>
            <a:ext cx="466344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Beginner-level understanding</a:t>
            </a:r>
            <a:endParaRPr>
              <a:solidFill/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" y="3575304"/>
            <a:ext cx="5074920" cy="841248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575304"/>
            <a:ext cx="73152" cy="841248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758184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Basic Data Analysis</a:t>
            </a:r>
            <a:endParaRPr>
              <a:solidFill/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" y="4233672"/>
            <a:ext cx="466344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Beginner-level understanding</a:t>
            </a:r>
            <a:endParaRPr>
              <a:solidFill/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09360" y="3575304"/>
            <a:ext cx="5074920" cy="841248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575304"/>
            <a:ext cx="73152" cy="84124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758184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Exploratory Data Analysis (EDA)</a:t>
            </a:r>
            <a:endParaRPr>
              <a:solidFill/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37960" y="4233672"/>
            <a:ext cx="466344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Beginner-level understanding</a:t>
            </a:r>
            <a:endParaRPr>
              <a:solidFill/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2960" y="4654296"/>
            <a:ext cx="5074920" cy="841248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654296"/>
            <a:ext cx="73152" cy="841248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837176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Data Visualization</a:t>
            </a:r>
            <a:endParaRPr>
              <a:solidFill/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1560" y="5312664"/>
            <a:ext cx="466344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Beginner-level understanding</a:t>
            </a:r>
            <a:endParaRPr>
              <a:solidFill/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09360" y="4654296"/>
            <a:ext cx="5074920" cy="841248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654296"/>
            <a:ext cx="73152" cy="84124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837176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Introduction to Machine Learning</a:t>
            </a:r>
            <a:endParaRPr>
              <a:solidFill/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37960" y="5312664"/>
            <a:ext cx="4663440" cy="18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Beginner-level understanding</a:t>
            </a:r>
            <a:endParaRPr>
              <a:solidFill/>
              <a:latin typeface="Apto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rPr>
                <a:solidFill/>
                <a:latin typeface="Aptos"/>
              </a:rPr>
              <a:t>6</a:t>
            </a:r>
            <a:endParaRPr>
              <a:solidFill/>
              <a:latin typeface="Aptos"/>
            </a:endParaRPr>
          </a:p>
        </p:txBody>
      </p:sp>
      <p:pic>
        <p:nvPicPr>
          <p:cNvPr id="42" name="Picture 41" descr="IIL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64592"/>
            <a:ext cx="1417320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>
                  <a:srgbClr val="0A274C"/>
                </a:solidFill>
                <a:latin typeface="Aptos"/>
              </a:rPr>
              <a:t>Tools &amp; Technologies</a:t>
            </a:r>
            <a:endParaRPr>
              <a:solidFill>
                <a:srgbClr val="0A274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554480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Python</a:t>
            </a:r>
            <a:endParaRPr>
              <a:solidFill/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Programming language used for data analysis.</a:t>
            </a:r>
            <a:endParaRPr>
              <a:solidFill/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42900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554480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Jupyter Notebook</a:t>
            </a:r>
            <a:endParaRPr>
              <a:solidFill/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2075688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Interactive environment for writing and testing code.</a:t>
            </a:r>
            <a:endParaRPr>
              <a:solidFill/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42900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73152" cy="1554480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0020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NumPy</a:t>
            </a:r>
            <a:endParaRPr>
              <a:solidFill/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2075688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Basic numerical computing and arrays.</a:t>
            </a:r>
            <a:endParaRPr>
              <a:solidFill/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3291839"/>
            <a:ext cx="342900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291839"/>
            <a:ext cx="73152" cy="1554480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7472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Pandas</a:t>
            </a:r>
            <a:endParaRPr>
              <a:solidFill/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950207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Working with tables and structured datasets.</a:t>
            </a:r>
            <a:endParaRPr>
              <a:solidFill/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34840" y="3291839"/>
            <a:ext cx="342900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291839"/>
            <a:ext cx="73152" cy="1554480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47472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Matplotlib</a:t>
            </a:r>
            <a:endParaRPr>
              <a:solidFill/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63440" y="3950207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Creating basic charts and graphs.</a:t>
            </a:r>
            <a:endParaRPr>
              <a:solidFill/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138160" y="3291839"/>
            <a:ext cx="342900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291839"/>
            <a:ext cx="73152" cy="1554480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47472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Seaborn</a:t>
            </a:r>
            <a:endParaRPr>
              <a:solidFill/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66760" y="3950207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Making statistical visualizations more easily.</a:t>
            </a:r>
            <a:endParaRPr>
              <a:solidFill/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rPr>
                <a:solidFill/>
                <a:latin typeface="Aptos"/>
              </a:rPr>
              <a:t>7</a:t>
            </a:r>
            <a:endParaRPr>
              <a:solidFill/>
              <a:latin typeface="Aptos"/>
            </a:endParaRPr>
          </a:p>
        </p:txBody>
      </p:sp>
      <p:pic>
        <p:nvPicPr>
          <p:cNvPr id="34" name="Picture 33" descr="IIL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64592"/>
            <a:ext cx="1417320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ectangl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>
                  <a:srgbClr val="0A274C"/>
                </a:solidFill>
                <a:latin typeface="Aptos"/>
              </a:rPr>
              <a:t>Basic Data Analysis Process</a:t>
            </a:r>
            <a:endParaRPr>
              <a:solidFill>
                <a:srgbClr val="0A274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508760" cy="1188720"/>
          </a:xfrm>
          <a:prstGeom prst="roundRect">
            <a:avLst/>
          </a:prstGeom>
          <a:solidFill>
            <a:srgbClr val="F5F8FC"/>
          </a:solidFill>
          <a:ln>
            <a:solidFill>
              <a:srgbClr val="18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Load</a:t>
            </a: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Data</a:t>
            </a:r>
            <a:endParaRPr>
              <a:solidFill/>
              <a:latin typeface="Aptos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2020824" y="2331720"/>
            <a:ext cx="292608" cy="347472"/>
          </a:xfrm>
          <a:prstGeom prst="rightArrow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23160" y="1965960"/>
            <a:ext cx="1508760" cy="1188720"/>
          </a:xfrm>
          <a:prstGeom prst="roundRect">
            <a:avLst/>
          </a:prstGeom>
          <a:solidFill>
            <a:srgbClr val="F5F8FC"/>
          </a:solidFill>
          <a:ln>
            <a:solidFill>
              <a:srgbClr val="18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Check</a:t>
            </a: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Data</a:t>
            </a:r>
            <a:endParaRPr>
              <a:solidFill/>
              <a:latin typeface="Aptos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941064" y="2331720"/>
            <a:ext cx="292608" cy="347472"/>
          </a:xfrm>
          <a:prstGeom prst="rightArrow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1508760" cy="1188720"/>
          </a:xfrm>
          <a:prstGeom prst="roundRect">
            <a:avLst/>
          </a:prstGeom>
          <a:solidFill>
            <a:srgbClr val="F5F8FC"/>
          </a:solidFill>
          <a:ln>
            <a:solidFill>
              <a:srgbClr val="18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Clean</a:t>
            </a: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Data</a:t>
            </a:r>
            <a:endParaRPr>
              <a:solidFill/>
              <a:latin typeface="Aptos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5861304" y="2331720"/>
            <a:ext cx="292608" cy="347472"/>
          </a:xfrm>
          <a:prstGeom prst="rightArrow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1508760" cy="1188720"/>
          </a:xfrm>
          <a:prstGeom prst="roundRect">
            <a:avLst/>
          </a:prstGeom>
          <a:solidFill>
            <a:srgbClr val="F5F8FC"/>
          </a:solidFill>
          <a:ln>
            <a:solidFill>
              <a:srgbClr val="18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Analyze</a:t>
            </a: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Data</a:t>
            </a:r>
            <a:endParaRPr>
              <a:solidFill/>
              <a:latin typeface="Aptos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7781544" y="2331720"/>
            <a:ext cx="292608" cy="347472"/>
          </a:xfrm>
          <a:prstGeom prst="rightArrow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1965960"/>
            <a:ext cx="1508760" cy="1188720"/>
          </a:xfrm>
          <a:prstGeom prst="roundRect">
            <a:avLst/>
          </a:prstGeom>
          <a:solidFill>
            <a:srgbClr val="F5F8FC"/>
          </a:solidFill>
          <a:ln>
            <a:solidFill>
              <a:srgbClr val="18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Create</a:t>
            </a: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Graphs</a:t>
            </a:r>
            <a:endParaRPr>
              <a:solidFill/>
              <a:latin typeface="Aptos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9701784" y="2331720"/>
            <a:ext cx="292608" cy="347472"/>
          </a:xfrm>
          <a:prstGeom prst="rightArrow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04120" y="1965960"/>
            <a:ext cx="1508760" cy="1188720"/>
          </a:xfrm>
          <a:prstGeom prst="roundRect">
            <a:avLst/>
          </a:prstGeom>
          <a:solidFill>
            <a:srgbClr val="F5F8FC"/>
          </a:solidFill>
          <a:ln>
            <a:solidFill>
              <a:srgbClr val="18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274C"/>
                </a:solidFill>
              </a:defRPr>
            </a:pPr>
            <a:r>
              <a:rPr>
                <a:solidFill/>
                <a:latin typeface="Aptos"/>
              </a:rPr>
              <a:t>Find</a:t>
            </a: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Insights</a:t>
            </a:r>
            <a:endParaRPr>
              <a:solidFill/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Read rows and columns of a dataset.</a:t>
            </a:r>
            <a:endParaRPr>
              <a:solidFill/>
              <a:latin typeface="Aptos"/>
            </a:endParaRPr>
          </a:p>
          <a:p>
            <a:pPr>
              <a:spcAft>
                <a:spcPts val="11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Identify missing or inconsistent values.</a:t>
            </a:r>
            <a:endParaRPr>
              <a:solidFill/>
              <a:latin typeface="Aptos"/>
            </a:endParaRPr>
          </a:p>
          <a:p>
            <a:pPr>
              <a:spcAft>
                <a:spcPts val="11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Use simple statistics to understand the data.</a:t>
            </a:r>
            <a:endParaRPr>
              <a:solidFill/>
              <a:latin typeface="Aptos"/>
            </a:endParaRPr>
          </a:p>
          <a:p>
            <a:pPr>
              <a:spcAft>
                <a:spcPts val="1100"/>
              </a:spcAft>
              <a:defRPr sz="16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Create charts to make patterns easier to understand.</a:t>
            </a:r>
            <a:endParaRPr>
              <a:solidFill/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rPr>
                <a:solidFill/>
                <a:latin typeface="Aptos"/>
              </a:rPr>
              <a:t>8</a:t>
            </a:r>
            <a:endParaRPr>
              <a:solidFill/>
              <a:latin typeface="Aptos"/>
            </a:endParaRPr>
          </a:p>
        </p:txBody>
      </p:sp>
      <p:pic>
        <p:nvPicPr>
          <p:cNvPr id="22" name="Picture 21" descr="IIL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64592"/>
            <a:ext cx="1417320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Rectangle 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>
                  <a:srgbClr val="0A274C"/>
                </a:solidFill>
                <a:latin typeface="Aptos"/>
              </a:rPr>
              <a:t>Introduction to Data Visualization</a:t>
            </a:r>
            <a:endParaRPr>
              <a:solidFill>
                <a:srgbClr val="0A274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554480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Bar Chart</a:t>
            </a:r>
            <a:endParaRPr>
              <a:solidFill/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Compare categories</a:t>
            </a:r>
            <a:endParaRPr>
              <a:solidFill/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42900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554480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91639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Line Chart</a:t>
            </a:r>
            <a:endParaRPr>
              <a:solidFill/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2167128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Show change over time</a:t>
            </a:r>
            <a:endParaRPr>
              <a:solidFill/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42900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73152" cy="1554480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91639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Pie Chart</a:t>
            </a:r>
            <a:endParaRPr>
              <a:solidFill/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2167128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Show proportions</a:t>
            </a:r>
            <a:endParaRPr>
              <a:solidFill/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3429000"/>
            <a:ext cx="342900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429000"/>
            <a:ext cx="73152" cy="1554480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6118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Histogram</a:t>
            </a:r>
            <a:endParaRPr>
              <a:solidFill/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4087368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Understand distribution</a:t>
            </a:r>
            <a:endParaRPr>
              <a:solidFill/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34840" y="3429000"/>
            <a:ext cx="342900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29000"/>
            <a:ext cx="73152" cy="1554480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61188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Scatter Plot</a:t>
            </a:r>
            <a:endParaRPr>
              <a:solidFill/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63440" y="4087368"/>
            <a:ext cx="301752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Observe relationships</a:t>
            </a:r>
            <a:endParaRPr>
              <a:solidFill/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32B34"/>
                </a:solidFill>
              </a:defRPr>
            </a:pPr>
            <a:r>
              <a:rPr>
                <a:solidFill/>
                <a:latin typeface="Aptos"/>
              </a:rPr>
              <a:t>Visualization makes data easier to understand and helps identify patterns and trends.</a:t>
            </a:r>
            <a:endParaRPr>
              <a:solidFill/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rPr>
                <a:solidFill/>
                <a:latin typeface="Aptos"/>
              </a:rPr>
              <a:t>9</a:t>
            </a:r>
            <a:endParaRPr>
              <a:solidFill/>
              <a:latin typeface="Aptos"/>
            </a:endParaRPr>
          </a:p>
        </p:txBody>
      </p:sp>
      <p:pic>
        <p:nvPicPr>
          <p:cNvPr id="31" name="Picture 30" descr="IIL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64592"/>
            <a:ext cx="1417320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>
                  <a:srgbClr val="0A274C"/>
                </a:solidFill>
                <a:latin typeface="Aptos"/>
              </a:rPr>
              <a:t>My Learning Experience</a:t>
            </a:r>
            <a:endParaRPr>
              <a:solidFill>
                <a:srgbClr val="0A274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Built a basic understanding of the Data Science field.</a:t>
            </a:r>
            <a:endParaRPr>
              <a:solidFill/>
              <a:latin typeface="Aptos"/>
            </a:endParaRPr>
          </a:p>
          <a:p>
            <a:pPr>
              <a:spcAft>
                <a:spcPts val="11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Became familiar with Python-based Data Science tools.</a:t>
            </a:r>
            <a:endParaRPr>
              <a:solidFill/>
              <a:latin typeface="Aptos"/>
            </a:endParaRPr>
          </a:p>
          <a:p>
            <a:pPr>
              <a:spcAft>
                <a:spcPts val="11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Learned the basic process of handling and analyzing data.</a:t>
            </a:r>
            <a:endParaRPr>
              <a:solidFill/>
              <a:latin typeface="Aptos"/>
            </a:endParaRPr>
          </a:p>
          <a:p>
            <a:pPr>
              <a:spcAft>
                <a:spcPts val="11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Understood how visualization can communicate information clearly.</a:t>
            </a:r>
            <a:endParaRPr>
              <a:solidFill/>
              <a:latin typeface="Aptos"/>
            </a:endParaRPr>
          </a:p>
          <a:p>
            <a:pPr>
              <a:spcAft>
                <a:spcPts val="11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Improved analytical thinking and confidence in working with data.</a:t>
            </a:r>
            <a:endParaRPr>
              <a:solidFill/>
              <a:latin typeface="Aptos"/>
            </a:endParaRPr>
          </a:p>
          <a:p>
            <a:pPr>
              <a:spcAft>
                <a:spcPts val="11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Developed a foundation for future learning in AI, Machine Learning, and Data Science.</a:t>
            </a:r>
            <a:endParaRPr>
              <a:solidFill/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rPr>
                <a:solidFill/>
                <a:latin typeface="Aptos"/>
              </a:rPr>
              <a:t>10</a:t>
            </a:r>
            <a:endParaRPr>
              <a:solidFill/>
              <a:latin typeface="Aptos"/>
            </a:endParaRPr>
          </a:p>
        </p:txBody>
      </p:sp>
      <p:pic>
        <p:nvPicPr>
          <p:cNvPr id="11" name="Picture 10" descr="IIL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64592"/>
            <a:ext cx="1417320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>
                  <a:srgbClr val="0A274C"/>
                </a:solidFill>
                <a:latin typeface="Aptos"/>
              </a:rPr>
              <a:t>Skills Gained</a:t>
            </a:r>
            <a:endParaRPr>
              <a:solidFill>
                <a:srgbClr val="0A274C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16636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4297680"/>
          </a:xfrm>
          <a:prstGeom prst="rect">
            <a:avLst/>
          </a:prstGeom>
          <a:solidFill>
            <a:srgbClr val="18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Technical Skills</a:t>
            </a:r>
            <a:endParaRPr>
              <a:solidFill/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Basic Python for Data Science</a:t>
            </a:r>
            <a:br>
              <a:rPr>
                <a:solidFill/>
                <a:latin typeface="Aptos"/>
              </a:rPr>
            </a:b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• Basic Data Handling</a:t>
            </a:r>
            <a:br>
              <a:rPr>
                <a:solidFill/>
                <a:latin typeface="Aptos"/>
              </a:rPr>
            </a:b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• Data Cleaning</a:t>
            </a:r>
            <a:br>
              <a:rPr>
                <a:solidFill/>
                <a:latin typeface="Aptos"/>
              </a:rPr>
            </a:b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• Basic Data Analysis</a:t>
            </a:r>
            <a:br>
              <a:rPr>
                <a:solidFill/>
                <a:latin typeface="Aptos"/>
              </a:rPr>
            </a:b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• Data Visualization</a:t>
            </a:r>
            <a:br>
              <a:rPr>
                <a:solidFill/>
                <a:latin typeface="Aptos"/>
              </a:rPr>
            </a:b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• Pandas &amp; NumPy fundamentals</a:t>
            </a:r>
            <a:endParaRPr>
              <a:solidFill/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4297680"/>
          </a:xfrm>
          <a:prstGeom prst="rect">
            <a:avLst/>
          </a:prstGeom>
          <a:solidFill>
            <a:srgbClr val="801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274C"/>
                </a:solidFill>
                <a:latin typeface="Aptos Display"/>
              </a:defRPr>
            </a:pPr>
            <a:r>
              <a:rPr>
                <a:solidFill/>
                <a:latin typeface="Aptos"/>
              </a:rPr>
              <a:t>Professional Skills</a:t>
            </a:r>
            <a:endParaRPr>
              <a:solidFill/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B34"/>
                </a:solidFill>
                <a:latin typeface="Aptos"/>
              </a:defRPr>
            </a:pPr>
            <a:r>
              <a:rPr>
                <a:solidFill/>
                <a:latin typeface="Aptos"/>
              </a:rPr>
              <a:t>• Problem Solving</a:t>
            </a:r>
            <a:br>
              <a:rPr>
                <a:solidFill/>
                <a:latin typeface="Aptos"/>
              </a:rPr>
            </a:b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• Analytical Thinking</a:t>
            </a:r>
            <a:br>
              <a:rPr>
                <a:solidFill/>
                <a:latin typeface="Aptos"/>
              </a:rPr>
            </a:b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• Self-Learning</a:t>
            </a:r>
            <a:br>
              <a:rPr>
                <a:solidFill/>
                <a:latin typeface="Aptos"/>
              </a:rPr>
            </a:b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• Time Management</a:t>
            </a:r>
            <a:br>
              <a:rPr>
                <a:solidFill/>
                <a:latin typeface="Aptos"/>
              </a:rPr>
            </a:b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• Consistency</a:t>
            </a:r>
            <a:br>
              <a:rPr>
                <a:solidFill/>
                <a:latin typeface="Aptos"/>
              </a:rPr>
            </a:br>
            <a:br>
              <a:rPr>
                <a:solidFill/>
                <a:latin typeface="Aptos"/>
              </a:rPr>
            </a:br>
            <a:r>
              <a:rPr>
                <a:solidFill/>
                <a:latin typeface="Aptos"/>
              </a:rPr>
              <a:t>• Technical Communication</a:t>
            </a:r>
            <a:endParaRPr>
              <a:solidFill/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rPr>
                <a:solidFill/>
                <a:latin typeface="Aptos"/>
              </a:rPr>
              <a:t>11</a:t>
            </a:r>
            <a:endParaRPr>
              <a:solidFill/>
              <a:latin typeface="Aptos"/>
            </a:endParaRPr>
          </a:p>
        </p:txBody>
      </p:sp>
      <p:pic>
        <p:nvPicPr>
          <p:cNvPr id="18" name="Picture 17" descr="IIL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64592"/>
            <a:ext cx="1417320" cy="94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b="1">
                <a:solidFill>
                  <a:srgbClr val="0A274C"/>
                </a:solidFill>
                <a:latin typeface="Aptos"/>
              </a:rPr>
              <a:t>CONCLUSION</a:t>
            </a:r>
            <a:endParaRPr b="1">
              <a:solidFill>
                <a:srgbClr val="0A274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9188" y="3657600"/>
            <a:ext cx="992314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DCE6F2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This internship helped me build a strong foundation in Data Science and encouraged me to explore AI,</a:t>
            </a:r>
            <a:endParaRPr>
              <a:solidFill>
                <a:srgbClr val="232B34"/>
              </a:solidFill>
              <a:latin typeface="Aptos"/>
            </a:endParaRPr>
          </a:p>
          <a:p>
            <a:pPr algn="ctr">
              <a:defRPr sz="1700">
                <a:solidFill>
                  <a:srgbClr val="DCE6F2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 Machine Learning, and Data Science further.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498348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b="1">
                <a:solidFill>
                  <a:srgbClr val="801831"/>
                </a:solidFill>
                <a:latin typeface="Aptos"/>
              </a:rPr>
              <a:t>Thank You</a:t>
            </a:r>
            <a:br>
              <a:rPr b="1">
                <a:solidFill>
                  <a:srgbClr val="801831"/>
                </a:solidFill>
                <a:latin typeface="Aptos"/>
              </a:rPr>
            </a:br>
            <a:r>
              <a:rPr b="1">
                <a:solidFill>
                  <a:srgbClr val="232B34"/>
                </a:solidFill>
                <a:latin typeface="Aptos"/>
              </a:rPr>
              <a:t>MD Rihan Alam  |  B.Tech CSE (AIML)</a:t>
            </a:r>
            <a:endParaRPr b="1">
              <a:solidFill>
                <a:srgbClr val="232B34"/>
              </a:solidFill>
              <a:latin typeface="Aptos"/>
            </a:endParaRPr>
          </a:p>
        </p:txBody>
      </p:sp>
      <p:pic>
        <p:nvPicPr>
          <p:cNvPr id="10" name="Picture 9" descr="IILM_logo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64592"/>
            <a:ext cx="1417320" cy="94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3492</Words>
  <Application>WPS Presentation</Application>
  <PresentationFormat/>
  <Paragraphs>207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Segoe UI Variable Display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Mr. Rihan Alam 25SCS1003001381</cp:lastModifiedBy>
  <cp:revision>1</cp:revision>
  <dcterms:created xsi:type="dcterms:W3CDTF">2026-08-18T18:48:33Z</dcterms:created>
  <dcterms:modified xsi:type="dcterms:W3CDTF">2026-08-18T18:48:33Z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9FE1B790DAEC46A699F8DC076B0369FF_12</vt:lpwstr>
  </property>
  <property fmtid="{D5CDD505-2E9C-101B-9397-08002B2CF9AE}" pid="3" name="KSOProductBuildVer">
    <vt:lpwstr>1033-12.1.0.28032</vt:lpwstr>
  </property>
</Properties>
</file>